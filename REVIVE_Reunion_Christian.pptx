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714"/>
  </p:normalViewPr>
  <p:slideViewPr>
    <p:cSldViewPr snapToGrid="0" snapToObjects="1">
      <p:cViewPr varScale="1">
        <p:scale>
          <a:sx n="115" d="100"/>
          <a:sy n="115" d="100"/>
        </p:scale>
        <p:origin x="664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EBFDB37-E336-F8B1-AB62-50ABE4891B3C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90500" y="6515100"/>
            <a:ext cx="12700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E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Classification: Internal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200400" y="1371600"/>
            <a:ext cx="5486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22C55E"/>
                </a:solidFill>
                <a:latin typeface="Arial"/>
              </a:defRPr>
            </a:pPr>
            <a:r>
              <a:t>RƎVIVE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23774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0">
                <a:solidFill>
                  <a:srgbClr val="FFFFFF"/>
                </a:solidFill>
                <a:latin typeface="Arial"/>
              </a:defRPr>
            </a:pPr>
            <a:r>
              <a:t>Nueva Etapa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8B5CF6"/>
                </a:solidFill>
                <a:latin typeface="Arial"/>
              </a:defRPr>
            </a:pPr>
            <a:r>
              <a:t>"Del experimento al activo comercial"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389120"/>
            <a:ext cx="2011680" cy="73152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434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Chatbot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474720" y="4572000"/>
            <a:ext cx="548640" cy="365760"/>
          </a:xfrm>
          <a:prstGeom prst="rightArrow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114800" y="4389120"/>
            <a:ext cx="2011680" cy="73152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114800" y="443484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A0"/>
                </a:solidFill>
                <a:latin typeface="Arial"/>
              </a:defRPr>
            </a:pPr>
            <a:r>
              <a:t>Aprendizaje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6217920" y="4572000"/>
            <a:ext cx="548640" cy="36576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0" y="4389120"/>
            <a:ext cx="2926080" cy="73152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0" y="443484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2121A"/>
                </a:solidFill>
                <a:latin typeface="Arial"/>
              </a:defRPr>
            </a:pPr>
            <a:r>
              <a:t>Plataforma Profesional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Arial"/>
              </a:defRPr>
            </a:pPr>
            <a:r>
              <a:t>Todo lo que necesitas, en un solo lugar</a:t>
            </a:r>
          </a:p>
        </p:txBody>
      </p:sp>
      <p:sp>
        <p:nvSpPr>
          <p:cNvPr id="3" name="Oval 2"/>
          <p:cNvSpPr/>
          <p:nvPr/>
        </p:nvSpPr>
        <p:spPr>
          <a:xfrm>
            <a:off x="4663440" y="2194560"/>
            <a:ext cx="2011680" cy="2011680"/>
          </a:xfrm>
          <a:prstGeom prst="ellipse">
            <a:avLst/>
          </a:prstGeom>
          <a:solidFill>
            <a:srgbClr val="16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4754880" y="2286000"/>
            <a:ext cx="1828800" cy="182880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754880" y="29260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2121A"/>
                </a:solidFill>
                <a:latin typeface="Arial"/>
              </a:defRPr>
            </a:pPr>
            <a:r>
              <a:t>RƎVIVE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657600" y="1691640"/>
            <a:ext cx="1097279" cy="274320"/>
          </a:xfrm>
          <a:prstGeom prst="rightArrow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2606040" y="1325880"/>
            <a:ext cx="1005840" cy="1005840"/>
          </a:xfrm>
          <a:prstGeom prst="ellipse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2651760" y="1371600"/>
            <a:ext cx="914400" cy="91440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651760" y="1508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11" name="Left Arrow 10"/>
          <p:cNvSpPr/>
          <p:nvPr/>
        </p:nvSpPr>
        <p:spPr>
          <a:xfrm>
            <a:off x="6583680" y="1691640"/>
            <a:ext cx="1097279" cy="274320"/>
          </a:xfrm>
          <a:prstGeom prst="lef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7726679" y="1325880"/>
            <a:ext cx="1005840" cy="1005840"/>
          </a:xfrm>
          <a:prstGeom prst="ellipse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772400" y="1371600"/>
            <a:ext cx="914400" cy="91440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772400" y="15087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89520" y="228600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Clientes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3291840" y="3794759"/>
            <a:ext cx="1463040" cy="274320"/>
          </a:xfrm>
          <a:prstGeom prst="rightArrow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2240280" y="3429000"/>
            <a:ext cx="1005840" cy="1005840"/>
          </a:xfrm>
          <a:prstGeom prst="ellipse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286000" y="3474720"/>
            <a:ext cx="914400" cy="91440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0" y="361187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0312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Pagos</a:t>
            </a:r>
          </a:p>
        </p:txBody>
      </p:sp>
      <p:sp>
        <p:nvSpPr>
          <p:cNvPr id="21" name="Left Arrow 20"/>
          <p:cNvSpPr/>
          <p:nvPr/>
        </p:nvSpPr>
        <p:spPr>
          <a:xfrm>
            <a:off x="6583680" y="3794759"/>
            <a:ext cx="1463040" cy="274320"/>
          </a:xfrm>
          <a:prstGeom prst="leftArrow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8092440" y="3429000"/>
            <a:ext cx="1005840" cy="1005840"/>
          </a:xfrm>
          <a:prstGeom prst="ellipse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138160" y="3474720"/>
            <a:ext cx="914400" cy="914400"/>
          </a:xfrm>
          <a:prstGeom prst="ellipse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138160" y="3611879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📊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55280" y="438912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Reportes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4389120" y="5074920"/>
            <a:ext cx="365759" cy="274320"/>
          </a:xfrm>
          <a:prstGeom prst="rightArrow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3337560" y="4709160"/>
            <a:ext cx="1005840" cy="1005840"/>
          </a:xfrm>
          <a:prstGeom prst="ellipse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3383280" y="4754880"/>
            <a:ext cx="914400" cy="91440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383280" y="4892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📝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00400" y="5669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Rutinas</a:t>
            </a:r>
          </a:p>
        </p:txBody>
      </p:sp>
      <p:sp>
        <p:nvSpPr>
          <p:cNvPr id="31" name="Left Arrow 30"/>
          <p:cNvSpPr/>
          <p:nvPr/>
        </p:nvSpPr>
        <p:spPr>
          <a:xfrm>
            <a:off x="6583680" y="5074920"/>
            <a:ext cx="365759" cy="274320"/>
          </a:xfrm>
          <a:prstGeom prst="leftArrow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6995159" y="4709160"/>
            <a:ext cx="1005840" cy="1005840"/>
          </a:xfrm>
          <a:prstGeom prst="ellipse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7040879" y="4754880"/>
            <a:ext cx="914400" cy="9144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040879" y="489204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  <a:latin typeface="Arial"/>
              </a:defRPr>
            </a:pPr>
            <a:r>
              <a:t>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857999" y="5669280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Mensajes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0A0A0"/>
                </a:solidFill>
                <a:latin typeface="Arial"/>
              </a:defRPr>
            </a:pPr>
            <a:r>
              <a:t>Una plataforma diseñada para profesionales del bienestar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Lo que vas a ganar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22C55E"/>
                </a:solidFill>
                <a:latin typeface="Arial"/>
              </a:defRPr>
            </a:pPr>
            <a:r>
              <a:t>Resultados reales para tu negocio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30352" y="1627632"/>
            <a:ext cx="2651760" cy="201168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8912" y="1536192"/>
            <a:ext cx="2688336" cy="204825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57200" y="1554480"/>
            <a:ext cx="2651760" cy="20116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2468880" cy="5486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⏱️  Tiempo Recuperado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1031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34D399"/>
                </a:solidFill>
                <a:latin typeface="Arial"/>
              </a:defRPr>
            </a:pPr>
            <a:r>
              <a:t>5h+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cada semana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Arial"/>
              </a:defRPr>
            </a:pPr>
            <a:r>
              <a:t>para tus clientes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64992" y="1627632"/>
            <a:ext cx="2651760" cy="201168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3273552" y="1536192"/>
            <a:ext cx="2688336" cy="204825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291840" y="1554480"/>
            <a:ext cx="2651760" cy="20116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3383280" y="1645920"/>
            <a:ext cx="246888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💰  Ingresos Asegurados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21031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60A5FA"/>
                </a:solidFill>
                <a:latin typeface="Arial"/>
              </a:defRPr>
            </a:pPr>
            <a: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91840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facturas controladas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91840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Arial"/>
              </a:defRPr>
            </a:pPr>
            <a:r>
              <a:t>sin pagos olvidados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99632" y="1627632"/>
            <a:ext cx="2651760" cy="201168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108192" y="1536192"/>
            <a:ext cx="2688336" cy="204825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126480" y="1554480"/>
            <a:ext cx="2651760" cy="20116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1645920"/>
            <a:ext cx="246888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6364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🎯  Clientes Fidelizados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21031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A78BFA"/>
                </a:solidFill>
                <a:latin typeface="Arial"/>
              </a:defRPr>
            </a:pPr>
            <a:r>
              <a:t>+40%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adherencia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Arial"/>
              </a:defRPr>
            </a:pPr>
            <a:r>
              <a:t>seguimiento automático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34272" y="1627632"/>
            <a:ext cx="2651760" cy="201168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8942832" y="1536192"/>
            <a:ext cx="2688336" cy="204825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961120" y="1554480"/>
            <a:ext cx="2651760" cy="201168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052560" y="1645920"/>
            <a:ext cx="246888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098280" y="17830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rial"/>
              </a:defRPr>
            </a:pPr>
            <a:r>
              <a:t>🌐  Nuevos Clientes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0" y="2103120"/>
            <a:ext cx="2651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6B6D4"/>
                </a:solidFill>
                <a:latin typeface="Arial"/>
              </a:defRPr>
            </a:pPr>
            <a:r>
              <a:t>Online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0" y="269748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  <a:latin typeface="Arial"/>
              </a:defRPr>
            </a:pPr>
            <a:r>
              <a:t>presencia digital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61120" y="3017520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Arial"/>
              </a:defRPr>
            </a:pPr>
            <a:r>
              <a:t>capta clientes 24/7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840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Arial"/>
              </a:defRPr>
            </a:pPr>
            <a:r>
              <a:t>Y además: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57200" y="4206240"/>
            <a:ext cx="3474720" cy="502920"/>
          </a:xfrm>
          <a:prstGeom prst="roundRect">
            <a:avLst/>
          </a:prstGeom>
          <a:solidFill>
            <a:srgbClr val="16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7200" y="4251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📱 App profesional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297680" y="4206240"/>
            <a:ext cx="34747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4297680" y="4251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🔔 Recordatorios auto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138160" y="4206240"/>
            <a:ext cx="3474720" cy="502920"/>
          </a:xfrm>
          <a:prstGeom prst="roundRect">
            <a:avLst/>
          </a:prstGeom>
          <a:solidFill>
            <a:srgbClr val="6D28D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138160" y="425196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📈 Reportes en vivo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7200" y="4846320"/>
            <a:ext cx="3474720" cy="502920"/>
          </a:xfrm>
          <a:prstGeom prst="roundRect">
            <a:avLst/>
          </a:prstGeom>
          <a:solidFill>
            <a:srgbClr val="2A2A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457200" y="4892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🔒 Datos seguros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297680" y="4846320"/>
            <a:ext cx="3474720" cy="502920"/>
          </a:xfrm>
          <a:prstGeom prst="roundRect">
            <a:avLst/>
          </a:prstGeom>
          <a:solidFill>
            <a:srgbClr val="16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4297680" y="4892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📅 Agenda inteligente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8138160" y="4846320"/>
            <a:ext cx="3474720" cy="502920"/>
          </a:xfrm>
          <a:prstGeom prst="round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8138160" y="4892040"/>
            <a:ext cx="3474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💬 Mensajes directos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2C55E"/>
                </a:solidFill>
                <a:latin typeface="Arial"/>
              </a:defRPr>
            </a:pPr>
            <a:r>
              <a:t>Menos gestión, más impacto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3657600"/>
            <a:ext cx="4572000" cy="4572000"/>
          </a:xfrm>
          <a:prstGeom prst="ellipse">
            <a:avLst/>
          </a:prstGeom>
          <a:solidFill>
            <a:srgbClr val="1A16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Arial"/>
              </a:defRPr>
            </a:pPr>
            <a:r>
              <a:t>Tu ventaja competitiva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078992"/>
            <a:ext cx="3017520" cy="23774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438912" y="987552"/>
            <a:ext cx="3054096" cy="2414016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457200" y="1005840"/>
            <a:ext cx="3017520" cy="237744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548640" y="1097280"/>
            <a:ext cx="2834640" cy="54864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43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📅  Agenda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" y="1554480"/>
            <a:ext cx="2743200" cy="685800"/>
          </a:xfrm>
          <a:prstGeom prst="roundRect">
            <a:avLst/>
          </a:prstGeom>
          <a:solidFill>
            <a:srgbClr val="161622"/>
          </a:solidFill>
          <a:ln w="6350">
            <a:solidFill>
              <a:srgbClr val="2D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685800" y="1645920"/>
            <a:ext cx="502920" cy="50292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13232" y="171907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MG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162763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María García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184708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34D399"/>
                </a:solidFill>
                <a:latin typeface="Arial"/>
              </a:defRPr>
            </a:pPr>
            <a:r>
              <a:t>10:00 - 11:00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468880" y="1847088"/>
            <a:ext cx="731520" cy="228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2468880" y="184708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Personal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2331720"/>
            <a:ext cx="2743200" cy="685800"/>
          </a:xfrm>
          <a:prstGeom prst="roundRect">
            <a:avLst/>
          </a:prstGeom>
          <a:solidFill>
            <a:srgbClr val="161622"/>
          </a:solidFill>
          <a:ln w="6350">
            <a:solidFill>
              <a:srgbClr val="2D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85800" y="2423160"/>
            <a:ext cx="502920" cy="502920"/>
          </a:xfrm>
          <a:prstGeom prst="ellipse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13232" y="2496312"/>
            <a:ext cx="457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" y="2404872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Arial"/>
              </a:defRPr>
            </a:pPr>
            <a:r>
              <a:t>Carlos Ruiz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2624328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78BFA"/>
                </a:solidFill>
                <a:latin typeface="Arial"/>
              </a:defRPr>
            </a:pPr>
            <a:r>
              <a:t>11:30 - 12:30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468880" y="2624328"/>
            <a:ext cx="731520" cy="22860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468880" y="262432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Grupal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10896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Arial"/>
              </a:defRPr>
            </a:pPr>
            <a:r>
              <a:t>Hoy: 6 sesiones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310896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Arial"/>
              </a:defRPr>
            </a:pPr>
            <a:r>
              <a:t>Semana: 24/28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730752" y="1078992"/>
            <a:ext cx="3017520" cy="23774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3639312" y="987552"/>
            <a:ext cx="3054096" cy="2414016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3657600" y="1005840"/>
            <a:ext cx="3017520" cy="237744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3749040" y="1097280"/>
            <a:ext cx="2834640" cy="5486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3794760" y="1234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B82F6"/>
                </a:solidFill>
                <a:latin typeface="Arial"/>
              </a:defRPr>
            </a:pPr>
            <a:r>
              <a:t>👥  Clientes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794760" y="1554480"/>
            <a:ext cx="2743200" cy="594360"/>
          </a:xfrm>
          <a:prstGeom prst="roundRect">
            <a:avLst/>
          </a:prstGeom>
          <a:solidFill>
            <a:srgbClr val="161622"/>
          </a:solidFill>
          <a:ln w="6350">
            <a:solidFill>
              <a:srgbClr val="2D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886200" y="16276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Ana López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86200" y="18105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Arial"/>
              </a:defRPr>
            </a:pPr>
            <a:r>
              <a:t>12 sesiones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15000" y="1664208"/>
            <a:ext cx="64008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715000" y="16642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95%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794760" y="2240280"/>
            <a:ext cx="2743200" cy="594360"/>
          </a:xfrm>
          <a:prstGeom prst="roundRect">
            <a:avLst/>
          </a:prstGeom>
          <a:solidFill>
            <a:srgbClr val="161622"/>
          </a:solidFill>
          <a:ln w="6350">
            <a:solidFill>
              <a:srgbClr val="2D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3886200" y="23134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t>Pedro Martín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2496312"/>
            <a:ext cx="10972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0A0A0"/>
                </a:solidFill>
                <a:latin typeface="Arial"/>
              </a:defRPr>
            </a:pPr>
            <a:r>
              <a:t>8 sesiones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715000" y="2350008"/>
            <a:ext cx="640080" cy="320040"/>
          </a:xfrm>
          <a:prstGeom prst="round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5715000" y="2350008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2121A"/>
                </a:solidFill>
                <a:latin typeface="Arial"/>
              </a:defRPr>
            </a:pPr>
            <a:r>
              <a:t>72%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794760" y="2926080"/>
            <a:ext cx="2743200" cy="365760"/>
          </a:xfrm>
          <a:prstGeom prst="roundRect">
            <a:avLst/>
          </a:prstGeom>
          <a:solidFill>
            <a:srgbClr val="1E1414"/>
          </a:solidFill>
          <a:ln w="6350">
            <a:solidFill>
              <a:srgbClr val="2D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3886200" y="29443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B923C"/>
                </a:solidFill>
                <a:latin typeface="Arial"/>
              </a:defRPr>
            </a:pPr>
            <a:r>
              <a:t>⚠️  2 clientes necesitan seguimiento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0352" y="3639312"/>
            <a:ext cx="3017520" cy="23774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ounded Rectangle 43"/>
          <p:cNvSpPr/>
          <p:nvPr/>
        </p:nvSpPr>
        <p:spPr>
          <a:xfrm>
            <a:off x="438912" y="3547872"/>
            <a:ext cx="3054096" cy="2414016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ounded Rectangle 44"/>
          <p:cNvSpPr/>
          <p:nvPr/>
        </p:nvSpPr>
        <p:spPr>
          <a:xfrm>
            <a:off x="457200" y="3566160"/>
            <a:ext cx="3017520" cy="237744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548640" y="3657600"/>
            <a:ext cx="2834640" cy="5486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9436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B5CF6"/>
                </a:solidFill>
                <a:latin typeface="Arial"/>
              </a:defRPr>
            </a:pPr>
            <a:r>
              <a:t>💰  Facturación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94360" y="4114800"/>
            <a:ext cx="2743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4D399"/>
                </a:solidFill>
                <a:latin typeface="Arial"/>
              </a:defRPr>
            </a:pPr>
            <a:r>
              <a:t>$2.450.000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4360" y="457200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Arial"/>
              </a:defRPr>
            </a:pPr>
            <a:r>
              <a:t>Ingresos Enero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2011680" y="4572000"/>
            <a:ext cx="914400" cy="228600"/>
          </a:xfrm>
          <a:prstGeom prst="roundRect">
            <a:avLst/>
          </a:prstGeom>
          <a:solidFill>
            <a:srgbClr val="16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2011680" y="457200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34D399"/>
                </a:solidFill>
                <a:latin typeface="Arial"/>
              </a:defRPr>
            </a:pPr>
            <a:r>
              <a:t>+12% ↑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594360" y="4937760"/>
            <a:ext cx="1280160" cy="640080"/>
          </a:xfrm>
          <a:prstGeom prst="roundRect">
            <a:avLst/>
          </a:prstGeom>
          <a:solidFill>
            <a:srgbClr val="161622"/>
          </a:solidFill>
          <a:ln w="6350">
            <a:solidFill>
              <a:srgbClr val="2D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/>
          <p:cNvSpPr txBox="1"/>
          <p:nvPr/>
        </p:nvSpPr>
        <p:spPr>
          <a:xfrm>
            <a:off x="640080" y="49834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0A0"/>
                </a:solidFill>
                <a:latin typeface="Arial"/>
              </a:defRPr>
            </a:pPr>
            <a:r>
              <a:t>Cobrado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212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2C55E"/>
                </a:solidFill>
                <a:latin typeface="Arial"/>
              </a:defRPr>
            </a:pPr>
            <a:r>
              <a:t>85%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1965960" y="4937760"/>
            <a:ext cx="1371600" cy="640080"/>
          </a:xfrm>
          <a:prstGeom prst="roundRect">
            <a:avLst/>
          </a:prstGeom>
          <a:solidFill>
            <a:srgbClr val="221616"/>
          </a:solidFill>
          <a:ln w="6350">
            <a:solidFill>
              <a:srgbClr val="2D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2011680" y="498348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A0A0A0"/>
                </a:solidFill>
                <a:latin typeface="Arial"/>
              </a:defRPr>
            </a:pPr>
            <a:r>
              <a:t>Pendiente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011680" y="5212080"/>
            <a:ext cx="1280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7185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3730752" y="3639312"/>
            <a:ext cx="3017520" cy="2377440"/>
          </a:xfrm>
          <a:prstGeom prst="roundRect">
            <a:avLst/>
          </a:prstGeom>
          <a:solidFill>
            <a:srgbClr val="0A0A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ounded Rectangle 58"/>
          <p:cNvSpPr/>
          <p:nvPr/>
        </p:nvSpPr>
        <p:spPr>
          <a:xfrm>
            <a:off x="3639312" y="3547872"/>
            <a:ext cx="3054096" cy="2414016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ounded Rectangle 59"/>
          <p:cNvSpPr/>
          <p:nvPr/>
        </p:nvSpPr>
        <p:spPr>
          <a:xfrm>
            <a:off x="3657600" y="3566160"/>
            <a:ext cx="3017520" cy="2377440"/>
          </a:xfrm>
          <a:prstGeom prst="roundRect">
            <a:avLst/>
          </a:prstGeom>
          <a:solidFill>
            <a:srgbClr val="1E1E2E"/>
          </a:solidFill>
          <a:ln w="12700">
            <a:solidFill>
              <a:srgbClr val="3D3D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ounded Rectangle 60"/>
          <p:cNvSpPr/>
          <p:nvPr/>
        </p:nvSpPr>
        <p:spPr>
          <a:xfrm>
            <a:off x="3749040" y="3657600"/>
            <a:ext cx="2834640" cy="5486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TextBox 61"/>
          <p:cNvSpPr txBox="1"/>
          <p:nvPr/>
        </p:nvSpPr>
        <p:spPr>
          <a:xfrm>
            <a:off x="3794760" y="3794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6B6D4"/>
                </a:solidFill>
                <a:latin typeface="Arial"/>
              </a:defRPr>
            </a:pPr>
            <a:r>
              <a:t>📊  Reportes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794760" y="41148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A0"/>
                </a:solidFill>
                <a:latin typeface="Arial"/>
              </a:defRPr>
            </a:pPr>
            <a:r>
              <a:t>Adherencia promedio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794760" y="4389120"/>
            <a:ext cx="2743200" cy="228600"/>
          </a:xfrm>
          <a:prstGeom prst="roundRect">
            <a:avLst/>
          </a:prstGeom>
          <a:solidFill>
            <a:srgbClr val="1E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ounded Rectangle 64"/>
          <p:cNvSpPr/>
          <p:nvPr/>
        </p:nvSpPr>
        <p:spPr>
          <a:xfrm>
            <a:off x="3794760" y="4389120"/>
            <a:ext cx="2139696" cy="2286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/>
          <p:cNvSpPr txBox="1"/>
          <p:nvPr/>
        </p:nvSpPr>
        <p:spPr>
          <a:xfrm>
            <a:off x="3794760" y="46634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2C55E"/>
                </a:solidFill>
                <a:latin typeface="Arial"/>
              </a:defRPr>
            </a:pPr>
            <a:r>
              <a:t>78%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572000" y="468172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34D399"/>
                </a:solidFill>
                <a:latin typeface="Arial"/>
              </a:defRPr>
            </a:pPr>
            <a:r>
              <a:t>+5% vs mes anterior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3794760" y="5029200"/>
            <a:ext cx="2743200" cy="822960"/>
          </a:xfrm>
          <a:prstGeom prst="roundRect">
            <a:avLst/>
          </a:prstGeom>
          <a:solidFill>
            <a:srgbClr val="161622"/>
          </a:solidFill>
          <a:ln w="6350">
            <a:solidFill>
              <a:srgbClr val="2D2D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3886200" y="50749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FBBF24"/>
                </a:solidFill>
                <a:latin typeface="Arial"/>
              </a:defRPr>
            </a:pPr>
            <a:r>
              <a:t>🏆 Top Adherencia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3886200" y="5349240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A0A0A0"/>
                </a:solidFill>
                <a:latin typeface="Arial"/>
              </a:defRPr>
            </a:pPr>
            <a:r>
              <a:t>1. María G. (95%)  2. Ana L. (92%)  3. Luis M. (89%)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6949440" y="1828800"/>
            <a:ext cx="4754880" cy="2011680"/>
          </a:xfrm>
          <a:prstGeom prst="roundRect">
            <a:avLst/>
          </a:prstGeom>
          <a:solidFill>
            <a:srgbClr val="181824"/>
          </a:solidFill>
          <a:ln w="25400">
            <a:solidFill>
              <a:srgbClr val="16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7223760" y="210312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Una plataforma.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7223760" y="2651760"/>
            <a:ext cx="4389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34D399"/>
                </a:solidFill>
                <a:latin typeface="Arial"/>
              </a:defRPr>
            </a:pPr>
            <a:r>
              <a:t>Todo tu negocio.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223760" y="3566160"/>
            <a:ext cx="1005840" cy="32004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7223760" y="3566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Agenda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8503920" y="3566160"/>
            <a:ext cx="100584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503920" y="3566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Clientes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646920" y="3566160"/>
            <a:ext cx="100584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646920" y="3566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Pagos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10607040" y="3566160"/>
            <a:ext cx="1005840" cy="32004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0607040" y="3566160"/>
            <a:ext cx="1005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Reportes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722376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78BFA"/>
                </a:solidFill>
                <a:latin typeface="Arial"/>
              </a:defRPr>
            </a:pPr>
            <a:r>
              <a:t>Pero mejor te lo enseño en vivo...</a:t>
            </a:r>
          </a:p>
        </p:txBody>
      </p:sp>
      <p:sp>
        <p:nvSpPr>
          <p:cNvPr id="83" name="Right Arrow 82"/>
          <p:cNvSpPr/>
          <p:nvPr/>
        </p:nvSpPr>
        <p:spPr>
          <a:xfrm>
            <a:off x="10515600" y="5074920"/>
            <a:ext cx="731520" cy="365760"/>
          </a:xfrm>
          <a:prstGeom prst="rightArrow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Una nueva relación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3840480"/>
          </a:xfrm>
          <a:prstGeom prst="roundRect">
            <a:avLst/>
          </a:prstGeom>
          <a:solidFill>
            <a:srgbClr val="1A1A24"/>
          </a:solidFill>
          <a:ln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A0"/>
                </a:solidFill>
                <a:latin typeface="Arial"/>
              </a:defRPr>
            </a:pPr>
            <a:r>
              <a:t>Hasta ahora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A0A0A0"/>
                </a:solidFill>
                <a:latin typeface="Arial"/>
              </a:defRPr>
            </a:pPr>
            <a:r>
              <a:t>Friends &amp; Family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Arial"/>
              </a:defRPr>
            </a:pPr>
            <a:r>
              <a:t>🎓  Aprendizaje mutuo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Arial"/>
              </a:defRPr>
            </a:pPr>
            <a:r>
              <a:t>🤝  Colaboración informal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Arial"/>
              </a:defRPr>
            </a:pPr>
            <a:r>
              <a:t>💡  Experimentación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42976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6B6B80"/>
                </a:solidFill>
                <a:latin typeface="Arial"/>
              </a:defRPr>
            </a:pPr>
            <a:r>
              <a:t>🎁  Sin compromisos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577840" y="2926080"/>
            <a:ext cx="1097280" cy="731520"/>
          </a:xfrm>
          <a:prstGeom prst="rightArrow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400800" y="1371600"/>
            <a:ext cx="5029200" cy="3840480"/>
          </a:xfrm>
          <a:prstGeom prst="roundRect">
            <a:avLst/>
          </a:prstGeom>
          <a:solidFill>
            <a:srgbClr val="2A2A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40080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Arial"/>
              </a:defRPr>
            </a:pPr>
            <a:r>
              <a:t>Nueva etapa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92024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2C55E"/>
                </a:solidFill>
                <a:latin typeface="Arial"/>
              </a:defRPr>
            </a:pPr>
            <a:r>
              <a:t>Business Partners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0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🚀  Producto profesional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0" y="32004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📈  Crecimiento conjunto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7490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💼  Relación comercial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80" y="429767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rial"/>
              </a:defRPr>
            </a:pPr>
            <a:r>
              <a:t>🎯  Objetivos compartidos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286000" y="5394960"/>
            <a:ext cx="7315200" cy="1097280"/>
          </a:xfrm>
          <a:prstGeom prst="roundRect">
            <a:avLst/>
          </a:prstGeom>
          <a:solidFill>
            <a:srgbClr val="162016"/>
          </a:solidFill>
          <a:ln>
            <a:solidFill>
              <a:srgbClr val="168A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286000" y="54864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  <a:latin typeface="Arial"/>
              </a:defRPr>
            </a:pPr>
            <a:r>
              <a:t>El siguiente paso natural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0" y="5852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rial"/>
              </a:defRPr>
            </a:pPr>
            <a:r>
              <a:t>Profesionalizar nuestra colaboración para crecer juntos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Arial"/>
              </a:defRPr>
            </a:pPr>
            <a:r>
              <a:t>Roadmap de Ideas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10972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8B5CF6"/>
                </a:solidFill>
                <a:latin typeface="Arial"/>
              </a:defRPr>
            </a:pPr>
            <a:r>
              <a:rPr dirty="0"/>
              <a:t>Genial para la </a:t>
            </a:r>
            <a:r>
              <a:rPr dirty="0" err="1"/>
              <a:t>versión</a:t>
            </a:r>
            <a:r>
              <a:rPr dirty="0"/>
              <a:t> </a:t>
            </a:r>
            <a:r>
              <a:rPr lang="es-ES" dirty="0"/>
              <a:t>Beta</a:t>
            </a:r>
            <a:r>
              <a:rPr dirty="0"/>
              <a:t> - Lo </a:t>
            </a:r>
            <a:r>
              <a:rPr dirty="0" err="1"/>
              <a:t>anotamos</a:t>
            </a:r>
            <a:r>
              <a:rPr dirty="0"/>
              <a:t> </a:t>
            </a:r>
            <a:r>
              <a:rPr dirty="0" err="1"/>
              <a:t>aquí</a:t>
            </a:r>
            <a:endParaRPr dirty="0"/>
          </a:p>
        </p:txBody>
      </p:sp>
      <p:sp>
        <p:nvSpPr>
          <p:cNvPr id="4" name="Rounded Rectangle 3"/>
          <p:cNvSpPr/>
          <p:nvPr/>
        </p:nvSpPr>
        <p:spPr>
          <a:xfrm>
            <a:off x="640080" y="1554480"/>
            <a:ext cx="3474720" cy="1645920"/>
          </a:xfrm>
          <a:prstGeom prst="roundRect">
            <a:avLst/>
          </a:prstGeom>
          <a:solidFill>
            <a:srgbClr val="2A2A35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2C55E"/>
                </a:solidFill>
                <a:latin typeface="Arial"/>
              </a:defRPr>
            </a:pPr>
            <a:r>
              <a:t>IA Coaching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Arial"/>
              </a:defRPr>
            </a:pPr>
            <a:r>
              <a:t>Asistente inteligente</a:t>
            </a:r>
            <a:br/>
            <a:r>
              <a:t>para recomendaciones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0" y="1554480"/>
            <a:ext cx="3474720" cy="1645920"/>
          </a:xfrm>
          <a:prstGeom prst="roundRect">
            <a:avLst/>
          </a:prstGeom>
          <a:solidFill>
            <a:srgbClr val="2A2A3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3B82F6"/>
                </a:solidFill>
                <a:latin typeface="Arial"/>
              </a:defRPr>
            </a:pPr>
            <a:r>
              <a:t>App Móvil Nativa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468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Arial"/>
              </a:defRPr>
            </a:pPr>
            <a:r>
              <a:t>iOS y Android</a:t>
            </a:r>
            <a:br/>
            <a:r>
              <a:t>con notificaciones push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321040" y="1554480"/>
            <a:ext cx="3474720" cy="1645920"/>
          </a:xfrm>
          <a:prstGeom prst="roundRect">
            <a:avLst/>
          </a:prstGeom>
          <a:solidFill>
            <a:srgbClr val="2A2A35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321040" y="164592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FFFFF"/>
                </a:solidFill>
                <a:latin typeface="Arial"/>
              </a:defRPr>
            </a:pPr>
            <a:r>
              <a:t>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21031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B5CF6"/>
                </a:solidFill>
                <a:latin typeface="Arial"/>
              </a:defRPr>
            </a:pPr>
            <a:r>
              <a:t>Integraciones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2468880"/>
            <a:ext cx="3474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A0"/>
                </a:solidFill>
                <a:latin typeface="Arial"/>
              </a:defRPr>
            </a:pPr>
            <a:r>
              <a:t>Google Calendar,</a:t>
            </a:r>
            <a:br/>
            <a:r>
              <a:t>Stripe, WhatsApp API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A0A0A0"/>
                </a:solidFill>
                <a:latin typeface="Arial"/>
              </a:defRPr>
            </a:pPr>
            <a:r>
              <a:t>Ideas de Christian: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931920"/>
            <a:ext cx="3474720" cy="1371600"/>
          </a:xfrm>
          <a:prstGeom prst="roundRect">
            <a:avLst/>
          </a:prstGeom>
          <a:solidFill>
            <a:srgbClr val="1A1A24"/>
          </a:solidFill>
          <a:ln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297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A2A35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A2A35"/>
                </a:solidFill>
                <a:latin typeface="Arial"/>
              </a:defRPr>
            </a:pPr>
            <a:r>
              <a:t>Tu idea aquí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80560" y="3931920"/>
            <a:ext cx="3474720" cy="1371600"/>
          </a:xfrm>
          <a:prstGeom prst="roundRect">
            <a:avLst/>
          </a:prstGeom>
          <a:solidFill>
            <a:srgbClr val="1A1A24"/>
          </a:solidFill>
          <a:ln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480560" y="4297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A2A35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A2A35"/>
                </a:solidFill>
                <a:latin typeface="Arial"/>
              </a:defRPr>
            </a:pPr>
            <a:r>
              <a:t>Tu idea aquí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3931920"/>
            <a:ext cx="3474720" cy="1371600"/>
          </a:xfrm>
          <a:prstGeom prst="roundRect">
            <a:avLst/>
          </a:prstGeom>
          <a:solidFill>
            <a:srgbClr val="1A1A24"/>
          </a:solidFill>
          <a:ln>
            <a:solidFill>
              <a:srgbClr val="2A2A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321040" y="4297680"/>
            <a:ext cx="3474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>
                <a:solidFill>
                  <a:srgbClr val="2A2A35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48463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A2A35"/>
                </a:solidFill>
                <a:latin typeface="Arial"/>
              </a:defRPr>
            </a:pPr>
            <a:r>
              <a:t>Tu idea aquí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2C55E"/>
                </a:solidFill>
                <a:latin typeface="Arial"/>
              </a:defRPr>
            </a:pPr>
            <a:r>
              <a:t>Priorizamos juntos según el impacto en tu negocio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2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2286000" y="5029200"/>
            <a:ext cx="640080" cy="7315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3200400" y="4389120"/>
            <a:ext cx="640080" cy="137160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4114800" y="3657600"/>
            <a:ext cx="640080" cy="210312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029200" y="2926080"/>
            <a:ext cx="640080" cy="283464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5943600" y="2194560"/>
            <a:ext cx="640080" cy="3566160"/>
          </a:xfrm>
          <a:prstGeom prst="roundRect">
            <a:avLst/>
          </a:prstGeom>
          <a:solidFill>
            <a:srgbClr val="1A2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ight Arrow 6"/>
          <p:cNvSpPr/>
          <p:nvPr/>
        </p:nvSpPr>
        <p:spPr>
          <a:xfrm>
            <a:off x="2103120" y="5029200"/>
            <a:ext cx="5029200" cy="457200"/>
          </a:xfrm>
          <a:prstGeom prst="rightArrow">
            <a:avLst/>
          </a:prstGeom>
          <a:solidFill>
            <a:srgbClr val="168A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0" y="731520"/>
            <a:ext cx="5486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600" b="1">
                <a:solidFill>
                  <a:srgbClr val="22C55E"/>
                </a:solidFill>
                <a:latin typeface="Arial"/>
              </a:defRPr>
            </a:pPr>
            <a:r>
              <a:t>RƎVIVE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7373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Arial"/>
              </a:defRPr>
            </a:pPr>
            <a:r>
              <a:t>Crezcamos juntos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34D399"/>
                </a:solidFill>
                <a:latin typeface="Arial"/>
              </a:defRPr>
            </a:pPr>
            <a:r>
              <a:t>La oportunidad de construir algo grande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14400" y="3291840"/>
            <a:ext cx="3200400" cy="2011680"/>
          </a:xfrm>
          <a:prstGeom prst="roundRect">
            <a:avLst/>
          </a:prstGeom>
          <a:solidFill>
            <a:srgbClr val="2A2A35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440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B82F6"/>
                </a:solidFill>
                <a:latin typeface="Arial"/>
              </a:defRPr>
            </a:pPr>
            <a:r>
              <a:t>Tú aportas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8404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👤 Tu experiencia</a:t>
            </a:r>
            <a:br/>
            <a:r>
              <a:t>📣 Tu feedback real</a:t>
            </a:r>
            <a:br/>
            <a:r>
              <a:t>🎯 Tu visión de mercado</a:t>
            </a:r>
          </a:p>
        </p:txBody>
      </p:sp>
      <p:sp>
        <p:nvSpPr>
          <p:cNvPr id="14" name="Oval 13"/>
          <p:cNvSpPr/>
          <p:nvPr/>
        </p:nvSpPr>
        <p:spPr>
          <a:xfrm>
            <a:off x="4480560" y="3840480"/>
            <a:ext cx="822960" cy="82296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480560" y="3977639"/>
            <a:ext cx="822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12121A"/>
                </a:solidFill>
                <a:latin typeface="Arial"/>
              </a:defRPr>
            </a:pPr>
            <a:r>
              <a:t>+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0" y="3291840"/>
            <a:ext cx="3200400" cy="2011680"/>
          </a:xfrm>
          <a:prstGeom prst="roundRect">
            <a:avLst/>
          </a:prstGeom>
          <a:solidFill>
            <a:srgbClr val="2A2A35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669280" y="34290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5CF6"/>
                </a:solidFill>
                <a:latin typeface="Arial"/>
              </a:defRPr>
            </a:pPr>
            <a:r>
              <a:t>Nosotros aportamos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3840480"/>
            <a:ext cx="28346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Arial"/>
              </a:defRPr>
            </a:pPr>
            <a:r>
              <a:t>💻 Tecnología de punta</a:t>
            </a:r>
            <a:br/>
            <a:r>
              <a:t>🚀 Desarrollo continuo</a:t>
            </a:r>
            <a:br/>
            <a:r>
              <a:t>🛡️ Soporte dedicado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4000" y="3291840"/>
            <a:ext cx="2286000" cy="2011680"/>
          </a:xfrm>
          <a:prstGeom prst="roundRect">
            <a:avLst/>
          </a:prstGeom>
          <a:solidFill>
            <a:srgbClr val="168A42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0" y="3429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D399"/>
                </a:solidFill>
                <a:latin typeface="Arial"/>
              </a:defRPr>
            </a:pPr>
            <a:r>
              <a:t>Resultado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3931920"/>
            <a:ext cx="2286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0">
                <a:solidFill>
                  <a:srgbClr val="FFFFFF"/>
                </a:solidFill>
                <a:latin typeface="Arial"/>
              </a:defRPr>
            </a:pPr>
            <a:r>
              <a:t>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4663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Éxito</a:t>
            </a:r>
            <a:br/>
            <a:r>
              <a:t>compartido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43200" y="5577840"/>
            <a:ext cx="6400800" cy="822960"/>
          </a:xfrm>
          <a:prstGeom prst="roundRect">
            <a:avLst/>
          </a:prstGeom>
          <a:solidFill>
            <a:srgbClr val="161622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2743200" y="5715000"/>
            <a:ext cx="6400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¿Construimos el futuro de REVIVE juntos?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399</Words>
  <Application>Microsoft Macintosh PowerPoint</Application>
  <PresentationFormat>Widescreen</PresentationFormat>
  <Paragraphs>134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Juan Poblete</cp:lastModifiedBy>
  <cp:revision>2</cp:revision>
  <dcterms:created xsi:type="dcterms:W3CDTF">2013-01-27T09:14:16Z</dcterms:created>
  <dcterms:modified xsi:type="dcterms:W3CDTF">2026-02-03T21:26:35Z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1bba39d-4745-4e9d-97db-0c1927b54242_Enabled">
    <vt:lpwstr>true</vt:lpwstr>
  </property>
  <property fmtid="{D5CDD505-2E9C-101B-9397-08002B2CF9AE}" pid="3" name="MSIP_Label_71bba39d-4745-4e9d-97db-0c1927b54242_SetDate">
    <vt:lpwstr>2026-02-03T21:24:11Z</vt:lpwstr>
  </property>
  <property fmtid="{D5CDD505-2E9C-101B-9397-08002B2CF9AE}" pid="4" name="MSIP_Label_71bba39d-4745-4e9d-97db-0c1927b54242_Method">
    <vt:lpwstr>Privileged</vt:lpwstr>
  </property>
  <property fmtid="{D5CDD505-2E9C-101B-9397-08002B2CF9AE}" pid="5" name="MSIP_Label_71bba39d-4745-4e9d-97db-0c1927b54242_Name">
    <vt:lpwstr>Internal</vt:lpwstr>
  </property>
  <property fmtid="{D5CDD505-2E9C-101B-9397-08002B2CF9AE}" pid="6" name="MSIP_Label_71bba39d-4745-4e9d-97db-0c1927b54242_SiteId">
    <vt:lpwstr>05d75c05-fa1a-42e7-9cf1-eb416c396f2d</vt:lpwstr>
  </property>
  <property fmtid="{D5CDD505-2E9C-101B-9397-08002B2CF9AE}" pid="7" name="MSIP_Label_71bba39d-4745-4e9d-97db-0c1927b54242_ActionId">
    <vt:lpwstr>0c030307-e3b0-42dd-bc67-7038767fd7c9</vt:lpwstr>
  </property>
  <property fmtid="{D5CDD505-2E9C-101B-9397-08002B2CF9AE}" pid="8" name="MSIP_Label_71bba39d-4745-4e9d-97db-0c1927b54242_ContentBits">
    <vt:lpwstr>2</vt:lpwstr>
  </property>
  <property fmtid="{D5CDD505-2E9C-101B-9397-08002B2CF9AE}" pid="9" name="MSIP_Label_71bba39d-4745-4e9d-97db-0c1927b54242_Tag">
    <vt:lpwstr>50, 0, 1, 1</vt:lpwstr>
  </property>
  <property fmtid="{D5CDD505-2E9C-101B-9397-08002B2CF9AE}" pid="10" name="ClassificationContentMarkingFooterLocations">
    <vt:lpwstr>Office Theme:8</vt:lpwstr>
  </property>
  <property fmtid="{D5CDD505-2E9C-101B-9397-08002B2CF9AE}" pid="11" name="ClassificationContentMarkingFooterText">
    <vt:lpwstr>Classification: Internal</vt:lpwstr>
  </property>
</Properties>
</file>